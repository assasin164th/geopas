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3"/>
  </p:notesMasterIdLst>
  <p:sldIdLst>
    <p:sldId id="26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</p:sldIdLst>
  <p:sldSz cx="14630400" cy="8229600"/>
  <p:notesSz cx="8229600" cy="14630400"/>
  <p:embeddedFontLs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Inter" panose="020B0604020202020204" charset="0"/>
      <p:regular r:id="rId18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F6613"/>
    <a:srgbClr val="FFFFFF"/>
    <a:srgbClr val="EC7524"/>
    <a:srgbClr val="ED7A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93" d="100"/>
          <a:sy n="93" d="100"/>
        </p:scale>
        <p:origin x="52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font" Target="fonts/font5.fntdata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4.fntdata"/><Relationship Id="rId2" Type="http://schemas.openxmlformats.org/officeDocument/2006/relationships/slide" Target="slides/slide1.xml"/><Relationship Id="rId16" Type="http://schemas.openxmlformats.org/officeDocument/2006/relationships/font" Target="fonts/font3.fntdata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2.fntdata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1.fntdata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012216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6F4F4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680960"/>
            <a:ext cx="14630400" cy="5486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" y="7601179"/>
            <a:ext cx="14630400" cy="7978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6736" y="910742"/>
            <a:ext cx="12070080" cy="4279392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9600" spc="-6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20061" y="5346745"/>
            <a:ext cx="12070080" cy="13716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880" cap="all" spc="240" baseline="0">
                <a:solidFill>
                  <a:schemeClr val="tx2"/>
                </a:solidFill>
                <a:latin typeface="+mj-lt"/>
              </a:defRPr>
            </a:lvl1pPr>
            <a:lvl2pPr marL="548640" indent="0" algn="ctr">
              <a:buNone/>
              <a:defRPr sz="2880"/>
            </a:lvl2pPr>
            <a:lvl3pPr marL="1097280" indent="0" algn="ctr">
              <a:buNone/>
              <a:defRPr sz="2880"/>
            </a:lvl3pPr>
            <a:lvl4pPr marL="1645920" indent="0" algn="ctr">
              <a:buNone/>
              <a:defRPr sz="2400"/>
            </a:lvl4pPr>
            <a:lvl5pPr marL="2194560" indent="0" algn="ctr">
              <a:buNone/>
              <a:defRPr sz="2400"/>
            </a:lvl5pPr>
            <a:lvl6pPr marL="2743200" indent="0" algn="ctr">
              <a:buNone/>
              <a:defRPr sz="2400"/>
            </a:lvl6pPr>
            <a:lvl7pPr marL="3291840" indent="0" algn="ctr">
              <a:buNone/>
              <a:defRPr sz="2400"/>
            </a:lvl7pPr>
            <a:lvl8pPr marL="3840480" indent="0" algn="ctr">
              <a:buNone/>
              <a:defRPr sz="2400"/>
            </a:lvl8pPr>
            <a:lvl9pPr marL="4389120" indent="0" algn="ctr">
              <a:buNone/>
              <a:defRPr sz="24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AF60A-713C-41BA-9788-4C493DDC0A9C}" type="datetimeFigureOut">
              <a:rPr lang="en-US" smtClean="0"/>
              <a:t>4/9/2026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AB73BC-B049-4115-A692-8D63A059BFB8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449190" y="5212080"/>
            <a:ext cx="11850624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81420415"/>
      </p:ext>
    </p:extLst>
  </p:cSld>
  <p:clrMapOvr>
    <a:masterClrMapping/>
  </p:clrMapOvr>
  <p:transition spd="slow">
    <p:push dir="u"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3.svg"/><Relationship Id="rId5" Type="http://schemas.openxmlformats.org/officeDocument/2006/relationships/image" Target="../media/image12.png"/><Relationship Id="rId10" Type="http://schemas.openxmlformats.org/officeDocument/2006/relationships/image" Target="../media/image17.svg"/><Relationship Id="rId4" Type="http://schemas.openxmlformats.org/officeDocument/2006/relationships/image" Target="../media/image11.svg"/><Relationship Id="rId9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8995" y="2991802"/>
            <a:ext cx="12070080" cy="2365368"/>
          </a:xfrm>
        </p:spPr>
        <p:txBody>
          <a:bodyPr>
            <a:normAutofit fontScale="90000"/>
          </a:bodyPr>
          <a:lstStyle/>
          <a:p>
            <a:pPr algn="ctr">
              <a:lnSpc>
                <a:spcPct val="115000"/>
              </a:lnSpc>
              <a:spcAft>
                <a:spcPts val="960"/>
              </a:spcAft>
            </a:pPr>
            <a:r>
              <a:rPr lang="ru-RU" sz="3900" b="1">
                <a:solidFill>
                  <a:srgbClr val="000000"/>
                </a:solidFill>
                <a:ea typeface="Inter Bold" pitchFamily="34" charset="-122"/>
              </a:rPr>
              <a:t>Геопространственный цифровой двойник мониторинга водного объекта на основе IoT и прогнозирования качества воды</a:t>
            </a:r>
            <a:br>
              <a:rPr lang="ru-RU" sz="800" b="1">
                <a:solidFill>
                  <a:srgbClr val="0F1115"/>
                </a:solidFill>
                <a:effectLst/>
                <a:latin typeface="quote-cjk-patch"/>
              </a:rPr>
            </a:br>
            <a:endParaRPr lang="ru-RU" sz="3900" b="1">
              <a:solidFill>
                <a:srgbClr val="000000"/>
              </a:solidFill>
              <a:ea typeface="Inter Bold" pitchFamily="34" charset="-122"/>
            </a:endParaRP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pPr algn="ctr"/>
            <a:r>
              <a:rPr lang="ru-RU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К</a:t>
            </a:r>
            <a:r>
              <a:rPr lang="ru-RU" sz="2000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оманда</a:t>
            </a:r>
            <a:r>
              <a:rPr lang="ru-RU">
                <a:solidFill>
                  <a:schemeClr val="tx1"/>
                </a:solidFill>
                <a:latin typeface="Calibri" panose="020F0502020204030204" pitchFamily="34" charset="0"/>
                <a:ea typeface="Verdana" panose="020B0604030504040204" pitchFamily="34" charset="0"/>
                <a:cs typeface="Calibri" panose="020F0502020204030204" pitchFamily="34" charset="0"/>
              </a:rPr>
              <a:t>:Грецкий Орешек!</a:t>
            </a:r>
          </a:p>
          <a:p>
            <a:endParaRPr lang="ru-RU" sz="1400">
              <a:solidFill>
                <a:schemeClr val="tx1"/>
              </a:solidFill>
              <a:latin typeface="Calibri" panose="020F0502020204030204" pitchFamily="34" charset="0"/>
              <a:ea typeface="Verdana" panose="020B0604030504040204" pitchFamily="34" charset="0"/>
              <a:cs typeface="Calibri" panose="020F0502020204030204" pitchFamily="34" charset="0"/>
            </a:endParaRPr>
          </a:p>
        </p:txBody>
      </p:sp>
      <p:pic>
        <p:nvPicPr>
          <p:cNvPr id="5" name="Рисунок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930012" y="619736"/>
            <a:ext cx="2378125" cy="2018581"/>
          </a:xfrm>
          <a:prstGeom prst="rect">
            <a:avLst/>
          </a:prstGeom>
        </p:spPr>
      </p:pic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2789462E-F4BB-134A-6F0E-9FF74F3FD1B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06900960"/>
              </p:ext>
            </p:extLst>
          </p:nvPr>
        </p:nvGraphicFramePr>
        <p:xfrm>
          <a:off x="2438400" y="6064140"/>
          <a:ext cx="9753600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876800">
                  <a:extLst>
                    <a:ext uri="{9D8B030D-6E8A-4147-A177-3AD203B41FA5}">
                      <a16:colId xmlns:a16="http://schemas.microsoft.com/office/drawing/2014/main" val="717573982"/>
                    </a:ext>
                  </a:extLst>
                </a:gridCol>
                <a:gridCol w="4876800">
                  <a:extLst>
                    <a:ext uri="{9D8B030D-6E8A-4147-A177-3AD203B41FA5}">
                      <a16:colId xmlns:a16="http://schemas.microsoft.com/office/drawing/2014/main" val="140305424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chemeClr val="tx1"/>
                          </a:solidFill>
                        </a:rPr>
                        <a:t>Возгрин Иван Сергеевич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chemeClr val="tx1"/>
                          </a:solidFill>
                        </a:rPr>
                        <a:t>Маклецов Никита Сергеевич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734377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chemeClr val="tx1"/>
                          </a:solidFill>
                        </a:rPr>
                        <a:t>Косогов Богдан Сергеевич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b="1">
                          <a:solidFill>
                            <a:schemeClr val="tx1"/>
                          </a:solidFill>
                        </a:rPr>
                        <a:t>Зуйков Артем Леонидович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6392381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68FC0298-1248-42B3-8B87-ED04D2506CDD}"/>
              </a:ext>
            </a:extLst>
          </p:cNvPr>
          <p:cNvSpPr txBox="1"/>
          <p:nvPr/>
        </p:nvSpPr>
        <p:spPr>
          <a:xfrm>
            <a:off x="5862430" y="7035312"/>
            <a:ext cx="2905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u-RU" b="1"/>
              <a:t>Неликаева Нина Сергеевна</a:t>
            </a:r>
          </a:p>
        </p:txBody>
      </p:sp>
      <p:grpSp>
        <p:nvGrpSpPr>
          <p:cNvPr id="13" name="Группа 12">
            <a:extLst>
              <a:ext uri="{FF2B5EF4-FFF2-40B4-BE49-F238E27FC236}">
                <a16:creationId xmlns:a16="http://schemas.microsoft.com/office/drawing/2014/main" id="{FF91335A-C117-90A2-C262-907B738A7A24}"/>
              </a:ext>
            </a:extLst>
          </p:cNvPr>
          <p:cNvGrpSpPr/>
          <p:nvPr/>
        </p:nvGrpSpPr>
        <p:grpSpPr>
          <a:xfrm>
            <a:off x="8109213" y="276384"/>
            <a:ext cx="2919023" cy="2677418"/>
            <a:chOff x="4272887" y="-39031"/>
            <a:chExt cx="3486628" cy="3198043"/>
          </a:xfrm>
        </p:grpSpPr>
        <p:sp>
          <p:nvSpPr>
            <p:cNvPr id="9" name="Овал 8">
              <a:extLst>
                <a:ext uri="{FF2B5EF4-FFF2-40B4-BE49-F238E27FC236}">
                  <a16:creationId xmlns:a16="http://schemas.microsoft.com/office/drawing/2014/main" id="{4A1130BE-BE42-C399-0C01-1BA5A72BC5B7}"/>
                </a:ext>
              </a:extLst>
            </p:cNvPr>
            <p:cNvSpPr/>
            <p:nvPr/>
          </p:nvSpPr>
          <p:spPr>
            <a:xfrm>
              <a:off x="4272887" y="-39031"/>
              <a:ext cx="3486628" cy="3198043"/>
            </a:xfrm>
            <a:prstGeom prst="ellipse">
              <a:avLst/>
            </a:prstGeom>
          </p:spPr>
          <p:style>
            <a:lnRef idx="2">
              <a:schemeClr val="dk1">
                <a:shade val="15000"/>
              </a:schemeClr>
            </a:lnRef>
            <a:fillRef idx="1">
              <a:schemeClr val="dk1"/>
            </a:fillRef>
            <a:effectRef idx="0">
              <a:schemeClr val="dk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ru-RU"/>
            </a:p>
          </p:txBody>
        </p:sp>
        <p:pic>
          <p:nvPicPr>
            <p:cNvPr id="8" name="Рисунок 7">
              <a:extLst>
                <a:ext uri="{FF2B5EF4-FFF2-40B4-BE49-F238E27FC236}">
                  <a16:creationId xmlns:a16="http://schemas.microsoft.com/office/drawing/2014/main" id="{D007A86D-C534-190D-5BBF-F72AC513E20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16673" y="634142"/>
              <a:ext cx="2199055" cy="1851695"/>
            </a:xfrm>
            <a:prstGeom prst="rect">
              <a:avLst/>
            </a:prstGeom>
          </p:spPr>
        </p:pic>
      </p:grp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CD6F679B-A366-B9A8-8A87-B25A52B63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2053" y="482269"/>
            <a:ext cx="7115383" cy="24715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516388" y="1293521"/>
            <a:ext cx="7556421" cy="18602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Геопространственный цифровой двойник реки Косьва</a:t>
            </a:r>
            <a:endParaRPr lang="en-US" sz="3900" dirty="0"/>
          </a:p>
        </p:txBody>
      </p:sp>
      <p:sp>
        <p:nvSpPr>
          <p:cNvPr id="6" name="Text 2"/>
          <p:cNvSpPr/>
          <p:nvPr/>
        </p:nvSpPr>
        <p:spPr>
          <a:xfrm>
            <a:off x="917080" y="3903472"/>
            <a:ext cx="75564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Прогнозирование электропроводности воды (EC) на 72 часа вперёд, пространственная визуализация загрязнения и оценка экономических последствий превышения опасного порога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 &gt; 4000 мкСм/см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от посёлка Кияево до устья.</a:t>
            </a:r>
            <a:endParaRPr lang="en-US" sz="1550" dirty="0"/>
          </a:p>
        </p:txBody>
      </p:sp>
      <p:pic>
        <p:nvPicPr>
          <p:cNvPr id="12" name="Рисунок 11">
            <a:extLst>
              <a:ext uri="{FF2B5EF4-FFF2-40B4-BE49-F238E27FC236}">
                <a16:creationId xmlns:a16="http://schemas.microsoft.com/office/drawing/2014/main" id="{870B40E6-10CD-99FC-B9BE-C2F7761FD50E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58756" y="0"/>
            <a:ext cx="5771644" cy="8229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45735" y="730239"/>
            <a:ext cx="5738812" cy="6200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Цель и задачи проекта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1787485"/>
            <a:ext cx="13042821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just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Цель — разработать и верифицировать геопространственный цифровой двойник участка реки Косьва, который на основе IoT-данных и открытых метеорологических источников прогнозирует электропроводность воды (EC) на 72 часа вперёд, визуализирует пространственное распределение загрязнения, выделяет зоны риска и оценивает экономические последствия превышения опасного порога EC &gt; 4000 мкСм/см.</a:t>
            </a:r>
            <a:endParaRPr lang="en-US" sz="1550" dirty="0"/>
          </a:p>
        </p:txBody>
      </p:sp>
      <p:sp>
        <p:nvSpPr>
          <p:cNvPr id="6" name="Text 4"/>
          <p:cNvSpPr/>
          <p:nvPr/>
        </p:nvSpPr>
        <p:spPr>
          <a:xfrm>
            <a:off x="793790" y="3740110"/>
            <a:ext cx="4215289" cy="62031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Передача </a:t>
            </a:r>
            <a:r>
              <a:rPr lang="en-US" sz="19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данных IoT</a:t>
            </a:r>
            <a:endParaRPr lang="en-US" sz="1950" dirty="0"/>
          </a:p>
        </p:txBody>
      </p:sp>
      <p:sp>
        <p:nvSpPr>
          <p:cNvPr id="7" name="Text 5"/>
          <p:cNvSpPr/>
          <p:nvPr/>
        </p:nvSpPr>
        <p:spPr>
          <a:xfrm>
            <a:off x="793790" y="4479488"/>
            <a:ext cx="4215289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Симулятор датчика, публикация JSON через MQTT, 4 </a:t>
            </a: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отказоустойчивых </a:t>
            </a:r>
            <a:endParaRPr lang="ru-RU" sz="1550">
              <a:solidFill>
                <a:srgbClr val="272525"/>
              </a:solidFill>
              <a:latin typeface="Inter" pitchFamily="34" charset="0"/>
              <a:ea typeface="Inter" pitchFamily="34" charset="-122"/>
              <a:cs typeface="Inter" pitchFamily="34" charset="-120"/>
            </a:endParaRPr>
          </a:p>
          <a:p>
            <a:pPr marL="0" indent="0" algn="l">
              <a:lnSpc>
                <a:spcPts val="2500"/>
              </a:lnSpc>
              <a:buNone/>
            </a:pPr>
            <a:r>
              <a:rPr lang="en-US" sz="155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брокера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топик </a:t>
            </a:r>
            <a:r>
              <a:rPr lang="en-US" sz="15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water/kosva/ec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5207437" y="3740110"/>
            <a:ext cx="4127540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Прогнозная модель</a:t>
            </a:r>
            <a:endParaRPr lang="en-US" sz="1950" dirty="0"/>
          </a:p>
        </p:txBody>
      </p:sp>
      <p:sp>
        <p:nvSpPr>
          <p:cNvPr id="11" name="Text 9"/>
          <p:cNvSpPr/>
          <p:nvPr/>
        </p:nvSpPr>
        <p:spPr>
          <a:xfrm>
            <a:off x="5207437" y="4169331"/>
            <a:ext cx="4215408" cy="12701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Prophet с внешними регрессорами, климатическая коррекция по данным Росгидромета, три сценария прогноза с доверительными интервалами 95%.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21203" y="3740110"/>
            <a:ext cx="3732848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Оценка качества</a:t>
            </a:r>
            <a:endParaRPr lang="en-US" sz="1950" dirty="0"/>
          </a:p>
        </p:txBody>
      </p:sp>
      <p:sp>
        <p:nvSpPr>
          <p:cNvPr id="15" name="Text 13"/>
          <p:cNvSpPr/>
          <p:nvPr/>
        </p:nvSpPr>
        <p:spPr>
          <a:xfrm>
            <a:off x="9621203" y="4169331"/>
            <a:ext cx="4215289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Метрики MAE, RMSE, MAPE, R²=0.86, BIAS. Верификация на отложенной выборке.</a:t>
            </a:r>
            <a:endParaRPr lang="en-US" sz="1550" dirty="0"/>
          </a:p>
        </p:txBody>
      </p:sp>
      <p:sp>
        <p:nvSpPr>
          <p:cNvPr id="18" name="Text 16"/>
          <p:cNvSpPr/>
          <p:nvPr/>
        </p:nvSpPr>
        <p:spPr>
          <a:xfrm>
            <a:off x="793790" y="6245900"/>
            <a:ext cx="576953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Пространственная </a:t>
            </a:r>
            <a:r>
              <a:rPr lang="en-US" sz="19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визуализация </a:t>
            </a:r>
            <a:endParaRPr lang="en-US" sz="1950" dirty="0"/>
          </a:p>
        </p:txBody>
      </p:sp>
      <p:sp>
        <p:nvSpPr>
          <p:cNvPr id="19" name="Text 17"/>
          <p:cNvSpPr/>
          <p:nvPr/>
        </p:nvSpPr>
        <p:spPr>
          <a:xfrm>
            <a:off x="793790" y="6675120"/>
            <a:ext cx="6422112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реперных точек вдоль реки, интерактивные карты Folium, тепловая карта EC, продольный профиль.</a:t>
            </a:r>
            <a:endParaRPr lang="en-US" sz="1550" dirty="0"/>
          </a:p>
        </p:txBody>
      </p:sp>
      <p:sp>
        <p:nvSpPr>
          <p:cNvPr id="22" name="Text 20"/>
          <p:cNvSpPr/>
          <p:nvPr/>
        </p:nvSpPr>
        <p:spPr>
          <a:xfrm>
            <a:off x="7414260" y="6245900"/>
            <a:ext cx="4499372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Экономический ущерб</a:t>
            </a:r>
            <a:endParaRPr lang="en-US" sz="1950" dirty="0"/>
          </a:p>
        </p:txBody>
      </p:sp>
      <p:sp>
        <p:nvSpPr>
          <p:cNvPr id="23" name="Text 21"/>
          <p:cNvSpPr/>
          <p:nvPr/>
        </p:nvSpPr>
        <p:spPr>
          <a:xfrm>
            <a:off x="7414260" y="6675120"/>
            <a:ext cx="642223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оценки для рыбного хозяйства, промышленности и социальной сферы. Ущерб до 238 млн руб. в ценах 2026 года.</a:t>
            </a:r>
            <a:endParaRPr lang="en-US" sz="1550" dirty="0"/>
          </a:p>
        </p:txBody>
      </p:sp>
      <p:sp>
        <p:nvSpPr>
          <p:cNvPr id="24" name="Прямоугольник 23">
            <a:extLst>
              <a:ext uri="{FF2B5EF4-FFF2-40B4-BE49-F238E27FC236}">
                <a16:creationId xmlns:a16="http://schemas.microsoft.com/office/drawing/2014/main" id="{089A519B-E4F0-D248-2880-1D769DB92C20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035379" y="693927"/>
            <a:ext cx="8381048" cy="5581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350"/>
              </a:lnSpc>
              <a:buNone/>
            </a:pPr>
            <a:r>
              <a:rPr lang="en-US" sz="3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Обоснование выбора MQTT-брокера</a:t>
            </a:r>
            <a:endParaRPr lang="en-US" sz="3500" dirty="0"/>
          </a:p>
        </p:txBody>
      </p:sp>
      <p:sp>
        <p:nvSpPr>
          <p:cNvPr id="3" name="Shape 1"/>
          <p:cNvSpPr/>
          <p:nvPr/>
        </p:nvSpPr>
        <p:spPr>
          <a:xfrm>
            <a:off x="665202" y="1515785"/>
            <a:ext cx="6560701" cy="5997178"/>
          </a:xfrm>
          <a:prstGeom prst="roundRect">
            <a:avLst>
              <a:gd name="adj" fmla="val 2145"/>
            </a:avLst>
          </a:prstGeom>
          <a:solidFill>
            <a:srgbClr val="DF6613"/>
          </a:solidFill>
          <a:ln/>
        </p:spPr>
        <p:txBody>
          <a:bodyPr/>
          <a:lstStyle/>
          <a:p>
            <a:endParaRPr lang="ru-RU"/>
          </a:p>
        </p:txBody>
      </p:sp>
      <p:sp>
        <p:nvSpPr>
          <p:cNvPr id="4" name="Text 2"/>
          <p:cNvSpPr/>
          <p:nvPr/>
        </p:nvSpPr>
        <p:spPr>
          <a:xfrm>
            <a:off x="843796" y="1676519"/>
            <a:ext cx="223277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Почему MQTT?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843796" y="2116217"/>
            <a:ext cx="6203513" cy="8143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Лёгкий протокол «издатель-подписчик» для устройств с ограниченными ресурсами. Заголовок — всего 2 байта. Три уровня QoS (0, 1, 2). Поддержка тысяч одновременных подключений.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43796" y="3075265"/>
            <a:ext cx="6203513" cy="125444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Минимальный оверхед — 2 байта заголовка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QoS 0/1/2 — гибкий контроль доставки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Работа в нестабильных сетях</a:t>
            </a:r>
            <a:endParaRPr lang="en-US" sz="1400" dirty="0"/>
          </a:p>
          <a:p>
            <a:pPr marL="342900" indent="-342900" algn="l">
              <a:lnSpc>
                <a:spcPts val="2100"/>
              </a:lnSpc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Широкая поддержка в IoT-платформах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540704" y="1676519"/>
            <a:ext cx="3688675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Выбранные публичные брокеры</a:t>
            </a:r>
            <a:endParaRPr lang="en-US" sz="1750" dirty="0"/>
          </a:p>
        </p:txBody>
      </p:sp>
      <p:sp>
        <p:nvSpPr>
          <p:cNvPr id="8" name="Shape 6"/>
          <p:cNvSpPr/>
          <p:nvPr/>
        </p:nvSpPr>
        <p:spPr>
          <a:xfrm>
            <a:off x="7540704" y="2136338"/>
            <a:ext cx="3071336" cy="1664494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22860">
            <a:solidFill>
              <a:srgbClr val="DF661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42158" y="2337792"/>
            <a:ext cx="2668429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mqtt.eclipseprojects.io:1883</a:t>
            </a:r>
            <a:endParaRPr lang="en-US" sz="1750" dirty="0"/>
          </a:p>
        </p:txBody>
      </p:sp>
      <p:sp>
        <p:nvSpPr>
          <p:cNvPr id="10" name="Text 8"/>
          <p:cNvSpPr/>
          <p:nvPr/>
        </p:nvSpPr>
        <p:spPr>
          <a:xfrm>
            <a:off x="7742158" y="3056453"/>
            <a:ext cx="2668429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Eclipse Foundation, высокая надёжность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10772775" y="2136338"/>
            <a:ext cx="3071455" cy="1664494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22860">
            <a:solidFill>
              <a:srgbClr val="DF661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74229" y="2337792"/>
            <a:ext cx="2256592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broker.emqx.io:1883</a:t>
            </a:r>
            <a:endParaRPr lang="en-US" sz="1750" dirty="0"/>
          </a:p>
        </p:txBody>
      </p:sp>
      <p:sp>
        <p:nvSpPr>
          <p:cNvPr id="13" name="Text 11"/>
          <p:cNvSpPr/>
          <p:nvPr/>
        </p:nvSpPr>
        <p:spPr>
          <a:xfrm>
            <a:off x="10974229" y="2777490"/>
            <a:ext cx="266854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EMQ, один из самых быстрых публичных брокеров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540704" y="3961567"/>
            <a:ext cx="3071336" cy="1664494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22860">
            <a:solidFill>
              <a:srgbClr val="DF661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742158" y="4163020"/>
            <a:ext cx="2639139" cy="2789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test.mosquitto.org:1883</a:t>
            </a:r>
            <a:endParaRPr lang="en-US" sz="1750" dirty="0"/>
          </a:p>
        </p:txBody>
      </p:sp>
      <p:sp>
        <p:nvSpPr>
          <p:cNvPr id="16" name="Text 14"/>
          <p:cNvSpPr/>
          <p:nvPr/>
        </p:nvSpPr>
        <p:spPr>
          <a:xfrm>
            <a:off x="7742158" y="4602718"/>
            <a:ext cx="2668429" cy="27146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Эталонный брокер Mosquitto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10772775" y="3961567"/>
            <a:ext cx="3071455" cy="1664494"/>
          </a:xfrm>
          <a:prstGeom prst="roundRect">
            <a:avLst>
              <a:gd name="adj" fmla="val 4507"/>
            </a:avLst>
          </a:prstGeom>
          <a:solidFill>
            <a:srgbClr val="FFFFFF"/>
          </a:solidFill>
          <a:ln w="22860">
            <a:solidFill>
              <a:srgbClr val="DF661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0974229" y="4163020"/>
            <a:ext cx="2668548" cy="55792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broker.hivemq.com:1883</a:t>
            </a:r>
            <a:endParaRPr lang="en-US" sz="1750" dirty="0"/>
          </a:p>
        </p:txBody>
      </p:sp>
      <p:sp>
        <p:nvSpPr>
          <p:cNvPr id="19" name="Text 17"/>
          <p:cNvSpPr/>
          <p:nvPr/>
        </p:nvSpPr>
        <p:spPr>
          <a:xfrm>
            <a:off x="10974229" y="4881682"/>
            <a:ext cx="2668548" cy="5429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HiveMQ, бесплатный публичный доступ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540704" y="5806916"/>
            <a:ext cx="6303526" cy="1525191"/>
          </a:xfrm>
          <a:prstGeom prst="roundRect">
            <a:avLst>
              <a:gd name="adj" fmla="val 4919"/>
            </a:avLst>
          </a:prstGeom>
          <a:solidFill>
            <a:srgbClr val="DF6613"/>
          </a:solidFill>
          <a:ln/>
        </p:spPr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9298" y="6071949"/>
            <a:ext cx="223242" cy="178594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8121134" y="6012299"/>
            <a:ext cx="5544503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100"/>
              </a:lnSpc>
              <a:buNone/>
            </a:pPr>
            <a:r>
              <a:rPr lang="en-US" sz="1400" b="1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Отказоустойчивость: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функция </a:t>
            </a:r>
            <a:r>
              <a:rPr lang="en-US" sz="14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try_connect_mqtt()</a:t>
            </a:r>
            <a:r>
              <a:rPr lang="en-US" sz="14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00" dirty="0">
                <a:solidFill>
                  <a:schemeClr val="bg1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последовательно перебирает брокеры. Если подключение не удалось — автоматический переход к следующему. В промышленности — собственный брокер с TLS.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3" name="Прямоугольник 22">
            <a:extLst>
              <a:ext uri="{FF2B5EF4-FFF2-40B4-BE49-F238E27FC236}">
                <a16:creationId xmlns:a16="http://schemas.microsoft.com/office/drawing/2014/main" id="{D40795AF-4D73-F63A-E02E-1BA0C7F76987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1147" y="413266"/>
            <a:ext cx="8046958" cy="3990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00"/>
              </a:lnSpc>
              <a:buNone/>
            </a:pPr>
            <a:r>
              <a:rPr lang="en-US" sz="25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Схема передачи данных IoT и симулятор датчика</a:t>
            </a:r>
            <a:endParaRPr lang="en-US" sz="25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08296" y="976789"/>
            <a:ext cx="11413808" cy="49301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331918" y="4455158"/>
            <a:ext cx="1694750" cy="308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ECSensor</a:t>
            </a:r>
            <a:endParaRPr lang="en-US" sz="1900" dirty="0"/>
          </a:p>
        </p:txBody>
      </p:sp>
      <p:sp>
        <p:nvSpPr>
          <p:cNvPr id="5" name="Text 2"/>
          <p:cNvSpPr/>
          <p:nvPr/>
        </p:nvSpPr>
        <p:spPr>
          <a:xfrm>
            <a:off x="4331918" y="4851623"/>
            <a:ext cx="1694750" cy="608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Читает построчно и формует JSON</a:t>
            </a:r>
            <a:endParaRPr lang="en-US" sz="1550" dirty="0"/>
          </a:p>
        </p:txBody>
      </p:sp>
      <p:sp>
        <p:nvSpPr>
          <p:cNvPr id="6" name="Text 3"/>
          <p:cNvSpPr/>
          <p:nvPr/>
        </p:nvSpPr>
        <p:spPr>
          <a:xfrm>
            <a:off x="8683599" y="3943629"/>
            <a:ext cx="1694750" cy="61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MQTT-брокер</a:t>
            </a:r>
            <a:endParaRPr lang="en-US" sz="1900" dirty="0"/>
          </a:p>
        </p:txBody>
      </p:sp>
      <p:sp>
        <p:nvSpPr>
          <p:cNvPr id="7" name="Text 4"/>
          <p:cNvSpPr/>
          <p:nvPr/>
        </p:nvSpPr>
        <p:spPr>
          <a:xfrm>
            <a:off x="8683599" y="4648760"/>
            <a:ext cx="1694750" cy="81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Один из четырёх публичных брокеров принимает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2161479" y="1421653"/>
            <a:ext cx="1694750" cy="308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CSV-файл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2161479" y="1818118"/>
            <a:ext cx="1694750" cy="608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kiyazevo_iot_realistic.csv с историей EC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10789390" y="1421653"/>
            <a:ext cx="1694751" cy="3086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Мониторинг</a:t>
            </a:r>
            <a:endParaRPr lang="en-US" sz="1900" dirty="0"/>
          </a:p>
        </p:txBody>
      </p:sp>
      <p:sp>
        <p:nvSpPr>
          <p:cNvPr id="11" name="Text 8"/>
          <p:cNvSpPr/>
          <p:nvPr/>
        </p:nvSpPr>
        <p:spPr>
          <a:xfrm>
            <a:off x="10789390" y="1818118"/>
            <a:ext cx="1694751" cy="8114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Система обрабатывает и сохраняет данные</a:t>
            </a:r>
            <a:endParaRPr lang="en-US" sz="1550" dirty="0"/>
          </a:p>
        </p:txBody>
      </p:sp>
      <p:sp>
        <p:nvSpPr>
          <p:cNvPr id="12" name="Text 9"/>
          <p:cNvSpPr/>
          <p:nvPr/>
        </p:nvSpPr>
        <p:spPr>
          <a:xfrm>
            <a:off x="6534767" y="1421653"/>
            <a:ext cx="1694750" cy="61733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MQTT-клиент</a:t>
            </a:r>
            <a:endParaRPr lang="en-US" sz="1900" dirty="0"/>
          </a:p>
        </p:txBody>
      </p:sp>
      <p:sp>
        <p:nvSpPr>
          <p:cNvPr id="13" name="Text 10"/>
          <p:cNvSpPr/>
          <p:nvPr/>
        </p:nvSpPr>
        <p:spPr>
          <a:xfrm>
            <a:off x="6534767" y="2126785"/>
            <a:ext cx="1694750" cy="60858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55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paho-mqtt публикует в water/kosva/ec</a:t>
            </a:r>
            <a:endParaRPr lang="en-US" sz="1550" dirty="0"/>
          </a:p>
        </p:txBody>
      </p:sp>
      <p:sp>
        <p:nvSpPr>
          <p:cNvPr id="14" name="Text 11"/>
          <p:cNvSpPr/>
          <p:nvPr/>
        </p:nvSpPr>
        <p:spPr>
          <a:xfrm>
            <a:off x="601147" y="5999321"/>
            <a:ext cx="13428107" cy="1678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Схема отражает полный путь данных от исторического CSV-файла до MQTT-брокера. Каждый шаг реализован в отдельном программном компоненте с чёткими интерфейсами.</a:t>
            </a:r>
            <a:endParaRPr lang="en-US" sz="1000" dirty="0"/>
          </a:p>
        </p:txBody>
      </p:sp>
      <p:sp>
        <p:nvSpPr>
          <p:cNvPr id="15" name="Text 12"/>
          <p:cNvSpPr/>
          <p:nvPr/>
        </p:nvSpPr>
        <p:spPr>
          <a:xfrm>
            <a:off x="601147" y="6341745"/>
            <a:ext cx="1596747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Класс ECSensor</a:t>
            </a:r>
            <a:endParaRPr lang="en-US" sz="1250" dirty="0"/>
          </a:p>
        </p:txBody>
      </p:sp>
      <p:sp>
        <p:nvSpPr>
          <p:cNvPr id="16" name="Text 13"/>
          <p:cNvSpPr/>
          <p:nvPr/>
        </p:nvSpPr>
        <p:spPr>
          <a:xfrm>
            <a:off x="601147" y="6623447"/>
            <a:ext cx="6558201" cy="5036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Загружает CSV в Pandas DataFrame, хранит внутренний счётчик </a:t>
            </a: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idx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При достижении конца файла — циклическое повторение. Поля </a:t>
            </a: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battery_v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signal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константы (в реальном устройстве считывались бы с АЦП).</a:t>
            </a:r>
            <a:endParaRPr lang="en-US" sz="1000" dirty="0"/>
          </a:p>
        </p:txBody>
      </p:sp>
      <p:sp>
        <p:nvSpPr>
          <p:cNvPr id="17" name="Text 14"/>
          <p:cNvSpPr/>
          <p:nvPr/>
        </p:nvSpPr>
        <p:spPr>
          <a:xfrm>
            <a:off x="7478673" y="6341745"/>
            <a:ext cx="2333268" cy="1995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550"/>
              </a:lnSpc>
              <a:buNone/>
            </a:pPr>
            <a:r>
              <a:rPr lang="en-US" sz="12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Режимы работы симулятора</a:t>
            </a:r>
            <a:endParaRPr lang="en-US" sz="1250" dirty="0"/>
          </a:p>
        </p:txBody>
      </p:sp>
      <p:sp>
        <p:nvSpPr>
          <p:cNvPr id="18" name="Text 15"/>
          <p:cNvSpPr/>
          <p:nvPr/>
        </p:nvSpPr>
        <p:spPr>
          <a:xfrm>
            <a:off x="7478673" y="6623447"/>
            <a:ext cx="6558201" cy="75759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--csv &lt;путь&gt;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путь к CSV-файлу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--interval &lt;сек&gt;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интервал между отправками (по умолчанию 2 сек)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--once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однократная отправка без цикла</a:t>
            </a:r>
            <a:endParaRPr lang="en-US" sz="1000" dirty="0"/>
          </a:p>
          <a:p>
            <a:pPr marL="342900" indent="-342900" algn="l">
              <a:lnSpc>
                <a:spcPts val="1300"/>
              </a:lnSpc>
              <a:buSzPct val="100000"/>
              <a:buChar char="•"/>
            </a:pPr>
            <a:r>
              <a:rPr lang="en-US" sz="100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--no-mqtt</a:t>
            </a: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только консольный вывод, без сети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7478673" y="7454979"/>
            <a:ext cx="6558201" cy="3357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300"/>
              </a:lnSpc>
              <a:buNone/>
            </a:pPr>
            <a:r>
              <a:rPr lang="en-US" sz="10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QoS=1 гарантирует доставку сообщения хотя бы один раз. Перебор брокеров исключает единую точку отказа.</a:t>
            </a:r>
            <a:endParaRPr lang="en-US" sz="1000" dirty="0"/>
          </a:p>
        </p:txBody>
      </p:sp>
      <p:sp>
        <p:nvSpPr>
          <p:cNvPr id="20" name="Прямоугольник 19">
            <a:extLst>
              <a:ext uri="{FF2B5EF4-FFF2-40B4-BE49-F238E27FC236}">
                <a16:creationId xmlns:a16="http://schemas.microsoft.com/office/drawing/2014/main" id="{320C6EE2-DD12-4372-8E8C-BD9EE919F7A8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14174"/>
            <a:ext cx="13042821" cy="11782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600"/>
              </a:lnSpc>
              <a:buNone/>
            </a:pPr>
            <a:r>
              <a:rPr lang="en-US" sz="3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Прогнозная модель Prophet: методология и настройка</a:t>
            </a:r>
            <a:endParaRPr lang="en-US" sz="3700" dirty="0"/>
          </a:p>
        </p:txBody>
      </p:sp>
      <p:sp>
        <p:nvSpPr>
          <p:cNvPr id="3" name="Text 1"/>
          <p:cNvSpPr/>
          <p:nvPr/>
        </p:nvSpPr>
        <p:spPr>
          <a:xfrm>
            <a:off x="793790" y="2640092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Почему Prophet?</a:t>
            </a:r>
            <a:endParaRPr lang="en-US" sz="1850" dirty="0"/>
          </a:p>
        </p:txBody>
      </p:sp>
      <p:sp>
        <p:nvSpPr>
          <p:cNvPr id="4" name="Text 2"/>
          <p:cNvSpPr/>
          <p:nvPr/>
        </p:nvSpPr>
        <p:spPr>
          <a:xfrm>
            <a:off x="793790" y="3113842"/>
            <a:ext cx="6291382" cy="11768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аддитивной регрессии от Meta, разработанная для бизнес-прогнозирования. Автоматически обрабатывает пропуски, выбросы и нестационарность. Даёт доверительные интервалы по умолчанию.</a:t>
            </a:r>
            <a:endParaRPr lang="en-US" sz="1450" dirty="0"/>
          </a:p>
        </p:txBody>
      </p:sp>
      <p:sp>
        <p:nvSpPr>
          <p:cNvPr id="5" name="Text 3"/>
          <p:cNvSpPr/>
          <p:nvPr/>
        </p:nvSpPr>
        <p:spPr>
          <a:xfrm>
            <a:off x="793790" y="4451866"/>
            <a:ext cx="6291382" cy="13646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Суточная и недельная сезонность — характерны для EC реки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Легко включать внешние регрессоры без сложной математики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Устойчив к трендам (антропогенная нагрузка)</a:t>
            </a:r>
            <a:endParaRPr lang="en-US" sz="1450" dirty="0"/>
          </a:p>
          <a:p>
            <a:pPr marL="342900" indent="-342900" algn="l">
              <a:lnSpc>
                <a:spcPts val="2300"/>
              </a:lnSpc>
              <a:buSzPct val="100000"/>
              <a:buChar char="•"/>
            </a:pP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Доверительные интервалы 80% и 95% «из коробки»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7416998" y="2461022"/>
            <a:ext cx="6563082" cy="3964424"/>
          </a:xfrm>
          <a:prstGeom prst="roundRect">
            <a:avLst>
              <a:gd name="adj" fmla="val 3424"/>
            </a:avLst>
          </a:prstGeom>
          <a:solidFill>
            <a:srgbClr val="4950BC"/>
          </a:solidFill>
          <a:ln/>
        </p:spPr>
      </p:sp>
      <p:sp>
        <p:nvSpPr>
          <p:cNvPr id="7" name="Text 5"/>
          <p:cNvSpPr/>
          <p:nvPr/>
        </p:nvSpPr>
        <p:spPr>
          <a:xfrm>
            <a:off x="7605474" y="2640092"/>
            <a:ext cx="2420779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Регрессоры модели</a:t>
            </a:r>
            <a:endParaRPr lang="en-US" sz="1850" dirty="0"/>
          </a:p>
        </p:txBody>
      </p:sp>
      <p:sp>
        <p:nvSpPr>
          <p:cNvPr id="8" name="Shape 6"/>
          <p:cNvSpPr/>
          <p:nvPr/>
        </p:nvSpPr>
        <p:spPr>
          <a:xfrm>
            <a:off x="7605474" y="3136225"/>
            <a:ext cx="3003471" cy="1748552"/>
          </a:xfrm>
          <a:prstGeom prst="roundRect">
            <a:avLst>
              <a:gd name="adj" fmla="val 45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801570" y="333232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temp_air</a:t>
            </a:r>
            <a:endParaRPr lang="en-US" sz="1850" dirty="0"/>
          </a:p>
        </p:txBody>
      </p:sp>
      <p:sp>
        <p:nvSpPr>
          <p:cNvPr id="10" name="Text 8"/>
          <p:cNvSpPr/>
          <p:nvPr/>
        </p:nvSpPr>
        <p:spPr>
          <a:xfrm>
            <a:off x="7801570" y="3806071"/>
            <a:ext cx="2611279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Температура воздуха (°C). Ускоряет выщелачивание солей → EC растёт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10788015" y="3136225"/>
            <a:ext cx="3003590" cy="1748552"/>
          </a:xfrm>
          <a:prstGeom prst="roundRect">
            <a:avLst>
              <a:gd name="adj" fmla="val 4529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0984111" y="3332321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precip</a:t>
            </a:r>
            <a:endParaRPr lang="en-US" sz="1850" dirty="0"/>
          </a:p>
        </p:txBody>
      </p:sp>
      <p:sp>
        <p:nvSpPr>
          <p:cNvPr id="13" name="Text 11"/>
          <p:cNvSpPr/>
          <p:nvPr/>
        </p:nvSpPr>
        <p:spPr>
          <a:xfrm>
            <a:off x="10984111" y="3806071"/>
            <a:ext cx="2611398" cy="882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Осадки (мм). Разбавляют воду, но могут смывать загрязнения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7605474" y="5063847"/>
            <a:ext cx="6186130" cy="1160145"/>
          </a:xfrm>
          <a:prstGeom prst="roundRect">
            <a:avLst>
              <a:gd name="adj" fmla="val 6826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801570" y="5259943"/>
            <a:ext cx="2356842" cy="294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8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flood_coef</a:t>
            </a:r>
            <a:endParaRPr lang="en-US" sz="1850" dirty="0"/>
          </a:p>
        </p:txBody>
      </p:sp>
      <p:sp>
        <p:nvSpPr>
          <p:cNvPr id="16" name="Text 14"/>
          <p:cNvSpPr/>
          <p:nvPr/>
        </p:nvSpPr>
        <p:spPr>
          <a:xfrm>
            <a:off x="7801570" y="5733693"/>
            <a:ext cx="5793938" cy="2942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Коэффициент половодья (0.85–1.0). По данным Росгидромета</a:t>
            </a:r>
            <a:endParaRPr lang="en-US" sz="1450" dirty="0"/>
          </a:p>
        </p:txBody>
      </p:sp>
      <p:sp>
        <p:nvSpPr>
          <p:cNvPr id="17" name="Text 15"/>
          <p:cNvSpPr/>
          <p:nvPr/>
        </p:nvSpPr>
        <p:spPr>
          <a:xfrm>
            <a:off x="793790" y="6626900"/>
            <a:ext cx="13042821" cy="58840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3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Настройки модели: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weekly_seasonality=True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daily_seasonality=True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changepoint_prior_scale=0.2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</a:t>
            </a:r>
            <a:r>
              <a:rPr lang="en-US" sz="1450" dirty="0">
                <a:solidFill>
                  <a:srgbClr val="272525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interval_width=0.95</a:t>
            </a:r>
            <a:r>
              <a:rPr lang="en-US" sz="14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Обучение на ~1000 записях занимает менее 5 секунд.</a:t>
            </a:r>
            <a:endParaRPr lang="en-US" sz="1450" dirty="0"/>
          </a:p>
        </p:txBody>
      </p:sp>
      <p:sp>
        <p:nvSpPr>
          <p:cNvPr id="18" name="Прямоугольник 17">
            <a:extLst>
              <a:ext uri="{FF2B5EF4-FFF2-40B4-BE49-F238E27FC236}">
                <a16:creationId xmlns:a16="http://schemas.microsoft.com/office/drawing/2014/main" id="{96CFFF95-ED9B-3741-293B-2AF3B5B612D3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9310"/>
            <a:ext cx="10666214" cy="4961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900"/>
              </a:lnSpc>
              <a:buNone/>
            </a:pPr>
            <a:r>
              <a:rPr lang="en-US" sz="3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Учёт весеннего половодья по данным Росгидромета</a:t>
            </a:r>
            <a:endParaRPr lang="en-US" sz="3100" dirty="0"/>
          </a:p>
        </p:txBody>
      </p:sp>
      <p:sp>
        <p:nvSpPr>
          <p:cNvPr id="3" name="Text 1"/>
          <p:cNvSpPr/>
          <p:nvPr/>
        </p:nvSpPr>
        <p:spPr>
          <a:xfrm>
            <a:off x="793790" y="1962864"/>
            <a:ext cx="377106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Прогноз Росгидромета — весна 2026</a:t>
            </a:r>
            <a:endParaRPr lang="en-US" sz="1550" dirty="0"/>
          </a:p>
        </p:txBody>
      </p:sp>
      <p:sp>
        <p:nvSpPr>
          <p:cNvPr id="4" name="Shape 2"/>
          <p:cNvSpPr/>
          <p:nvPr/>
        </p:nvSpPr>
        <p:spPr>
          <a:xfrm>
            <a:off x="793790" y="2353747"/>
            <a:ext cx="3100388" cy="1443276"/>
          </a:xfrm>
          <a:prstGeom prst="roundRect">
            <a:avLst>
              <a:gd name="adj" fmla="val 76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0930" y="2353747"/>
            <a:ext cx="91440" cy="1443276"/>
          </a:xfrm>
          <a:prstGeom prst="roundRect">
            <a:avLst>
              <a:gd name="adj" fmla="val 72930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1043940" y="2535317"/>
            <a:ext cx="2668667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Запас снега: 110% от нормы</a:t>
            </a:r>
            <a:endParaRPr lang="en-US" sz="1550" dirty="0"/>
          </a:p>
        </p:txBody>
      </p:sp>
      <p:sp>
        <p:nvSpPr>
          <p:cNvPr id="7" name="Text 5"/>
          <p:cNvSpPr/>
          <p:nvPr/>
        </p:nvSpPr>
        <p:spPr>
          <a:xfrm>
            <a:off x="1043940" y="3158252"/>
            <a:ext cx="2668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Больше талой воды → значительное разбавление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021098" y="2353747"/>
            <a:ext cx="3100507" cy="1443276"/>
          </a:xfrm>
          <a:prstGeom prst="roundRect">
            <a:avLst>
              <a:gd name="adj" fmla="val 76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998238" y="2353747"/>
            <a:ext cx="91440" cy="1443276"/>
          </a:xfrm>
          <a:prstGeom prst="roundRect">
            <a:avLst>
              <a:gd name="adj" fmla="val 72930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4271248" y="2535317"/>
            <a:ext cx="2377797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Влажность почвы: 90%</a:t>
            </a:r>
            <a:endParaRPr lang="en-US" sz="1550" dirty="0"/>
          </a:p>
        </p:txBody>
      </p:sp>
      <p:sp>
        <p:nvSpPr>
          <p:cNvPr id="11" name="Text 9"/>
          <p:cNvSpPr/>
          <p:nvPr/>
        </p:nvSpPr>
        <p:spPr>
          <a:xfrm>
            <a:off x="4271248" y="2910245"/>
            <a:ext cx="2668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Почва насыщена → быстрый поверхностный сток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93790" y="3923943"/>
            <a:ext cx="3100388" cy="1443276"/>
          </a:xfrm>
          <a:prstGeom prst="roundRect">
            <a:avLst>
              <a:gd name="adj" fmla="val 76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0930" y="3923943"/>
            <a:ext cx="91440" cy="1443276"/>
          </a:xfrm>
          <a:prstGeom prst="roundRect">
            <a:avLst>
              <a:gd name="adj" fmla="val 72930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1043940" y="4105513"/>
            <a:ext cx="2668667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Отклонение уровня: +0.8 м</a:t>
            </a:r>
            <a:endParaRPr lang="en-US" sz="1550" dirty="0"/>
          </a:p>
        </p:txBody>
      </p:sp>
      <p:sp>
        <p:nvSpPr>
          <p:cNvPr id="15" name="Text 13"/>
          <p:cNvSpPr/>
          <p:nvPr/>
        </p:nvSpPr>
        <p:spPr>
          <a:xfrm>
            <a:off x="1043940" y="4728448"/>
            <a:ext cx="2668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Риск подтоплений прибрежных территорий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4021098" y="3923943"/>
            <a:ext cx="3100507" cy="1443276"/>
          </a:xfrm>
          <a:prstGeom prst="roundRect">
            <a:avLst>
              <a:gd name="adj" fmla="val 76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998238" y="3923943"/>
            <a:ext cx="91440" cy="1443276"/>
          </a:xfrm>
          <a:prstGeom prst="roundRect">
            <a:avLst>
              <a:gd name="adj" fmla="val 72930"/>
            </a:avLst>
          </a:prstGeom>
          <a:solidFill>
            <a:srgbClr val="4950BC"/>
          </a:solidFill>
          <a:ln/>
        </p:spPr>
      </p:sp>
      <p:sp>
        <p:nvSpPr>
          <p:cNvPr id="18" name="Text 16"/>
          <p:cNvSpPr/>
          <p:nvPr/>
        </p:nvSpPr>
        <p:spPr>
          <a:xfrm>
            <a:off x="4271248" y="4105513"/>
            <a:ext cx="2668786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Заторы льда: риск подтверждён</a:t>
            </a:r>
            <a:endParaRPr lang="en-US" sz="1550" dirty="0"/>
          </a:p>
        </p:txBody>
      </p:sp>
      <p:sp>
        <p:nvSpPr>
          <p:cNvPr id="19" name="Text 17"/>
          <p:cNvSpPr/>
          <p:nvPr/>
        </p:nvSpPr>
        <p:spPr>
          <a:xfrm>
            <a:off x="4271248" y="4728448"/>
            <a:ext cx="266878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Резкий подъём воды на 2–3 метра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793790" y="5494139"/>
            <a:ext cx="3100388" cy="1443276"/>
          </a:xfrm>
          <a:prstGeom prst="roundRect">
            <a:avLst>
              <a:gd name="adj" fmla="val 7603"/>
            </a:avLst>
          </a:prstGeom>
          <a:solidFill>
            <a:srgbClr val="FFFFFF"/>
          </a:solidFill>
          <a:ln w="22860">
            <a:solidFill>
              <a:srgbClr val="C0C1D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70930" y="5494139"/>
            <a:ext cx="91440" cy="1443276"/>
          </a:xfrm>
          <a:prstGeom prst="roundRect">
            <a:avLst>
              <a:gd name="adj" fmla="val 72930"/>
            </a:avLst>
          </a:prstGeom>
          <a:solidFill>
            <a:srgbClr val="4950BC"/>
          </a:solidFill>
          <a:ln/>
        </p:spPr>
      </p:sp>
      <p:sp>
        <p:nvSpPr>
          <p:cNvPr id="22" name="Text 20"/>
          <p:cNvSpPr/>
          <p:nvPr/>
        </p:nvSpPr>
        <p:spPr>
          <a:xfrm>
            <a:off x="1043940" y="5675709"/>
            <a:ext cx="2668667" cy="49601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Коэффициент интенсивности: 1.15</a:t>
            </a:r>
            <a:endParaRPr lang="en-US" sz="1550" dirty="0"/>
          </a:p>
        </p:txBody>
      </p:sp>
      <p:sp>
        <p:nvSpPr>
          <p:cNvPr id="23" name="Text 21"/>
          <p:cNvSpPr/>
          <p:nvPr/>
        </p:nvSpPr>
        <p:spPr>
          <a:xfrm>
            <a:off x="1043940" y="6298644"/>
            <a:ext cx="2668667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Усиленное половодье, выше среднего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7516416" y="1962864"/>
            <a:ext cx="2922746" cy="24800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5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Алгоритм расчёта flood_coef</a:t>
            </a:r>
            <a:endParaRPr lang="en-US" sz="1550" dirty="0"/>
          </a:p>
        </p:txBody>
      </p:sp>
      <p:sp>
        <p:nvSpPr>
          <p:cNvPr id="25" name="Text 23"/>
          <p:cNvSpPr/>
          <p:nvPr/>
        </p:nvSpPr>
        <p:spPr>
          <a:xfrm>
            <a:off x="7516416" y="2337792"/>
            <a:ext cx="63278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Календарная фаза половодья определяет прогресс разбавления: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7516416" y="2680692"/>
            <a:ext cx="6327815" cy="774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20–30 апреля: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линейный рост прогресса от 0 до 1</a:t>
            </a:r>
            <a:endParaRPr lang="en-US" sz="12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1–10 мая: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максимум разбавления (прогресс = 1)</a:t>
            </a:r>
            <a:endParaRPr lang="en-US" sz="1250" dirty="0"/>
          </a:p>
          <a:p>
            <a:pPr marL="342900" indent="-342900" algn="l">
              <a:lnSpc>
                <a:spcPts val="1800"/>
              </a:lnSpc>
              <a:buSzPct val="100000"/>
              <a:buChar char="•"/>
            </a:pP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11–30 мая: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спад до 0</a:t>
            </a:r>
            <a:endParaRPr lang="en-US" sz="1250" dirty="0"/>
          </a:p>
        </p:txBody>
      </p:sp>
      <p:sp>
        <p:nvSpPr>
          <p:cNvPr id="27" name="Text 25"/>
          <p:cNvSpPr/>
          <p:nvPr/>
        </p:nvSpPr>
        <p:spPr>
          <a:xfrm>
            <a:off x="7516416" y="3569613"/>
            <a:ext cx="632781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Коэффициент разбавления при интенсивности 1.15: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7516416" y="3958947"/>
            <a:ext cx="6327815" cy="2745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endParaRPr lang="en-US" sz="1400" dirty="0"/>
          </a:p>
        </p:txBody>
      </p:sp>
      <p:pic>
        <p:nvPicPr>
          <p:cNvPr id="2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16416" y="3958947"/>
            <a:ext cx="6327815" cy="274558"/>
          </a:xfrm>
          <a:prstGeom prst="rect">
            <a:avLst/>
          </a:prstGeom>
        </p:spPr>
      </p:pic>
      <p:sp>
        <p:nvSpPr>
          <p:cNvPr id="30" name="Text 27"/>
          <p:cNvSpPr/>
          <p:nvPr/>
        </p:nvSpPr>
        <p:spPr>
          <a:xfrm>
            <a:off x="7516416" y="4394240"/>
            <a:ext cx="63278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Максимальное снижение EC — </a:t>
            </a:r>
            <a:r>
              <a:rPr lang="en-US" sz="12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10.75%</a:t>
            </a:r>
            <a:r>
              <a:rPr lang="en-US" sz="12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 пик половодья. Без учёта этого фактора модель дала бы ложную тревогу из-за роста температуры.</a:t>
            </a:r>
            <a:endParaRPr lang="en-US" sz="1250" dirty="0"/>
          </a:p>
        </p:txBody>
      </p:sp>
      <p:sp>
        <p:nvSpPr>
          <p:cNvPr id="31" name="Прямоугольник 30">
            <a:extLst>
              <a:ext uri="{FF2B5EF4-FFF2-40B4-BE49-F238E27FC236}">
                <a16:creationId xmlns:a16="http://schemas.microsoft.com/office/drawing/2014/main" id="{3593CBEF-14D5-EB6D-51D0-9B9485B827C8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21162"/>
            <a:ext cx="11516082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Оценка качества прогноза: метрики и интерпретация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534954"/>
            <a:ext cx="13042821" cy="4134326"/>
          </a:xfrm>
          <a:prstGeom prst="roundRect">
            <a:avLst>
              <a:gd name="adj" fmla="val 1714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01410" y="1542574"/>
            <a:ext cx="13027581" cy="436840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970240" y="1636157"/>
            <a:ext cx="200394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Метрика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318986" y="1636157"/>
            <a:ext cx="147899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Формула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142786" y="1636157"/>
            <a:ext cx="147899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Значение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966585" y="1636157"/>
            <a:ext cx="669381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Интерпретация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01410" y="1979414"/>
            <a:ext cx="13027581" cy="6865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10" name="Text 8"/>
          <p:cNvSpPr/>
          <p:nvPr/>
        </p:nvSpPr>
        <p:spPr>
          <a:xfrm>
            <a:off x="970240" y="2072997"/>
            <a:ext cx="200394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MAE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18986" y="2072997"/>
            <a:ext cx="1478994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(1/n) Σ |y_true − y_pred|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5142786" y="2072997"/>
            <a:ext cx="147899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85 мкСм/см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966585" y="2072997"/>
            <a:ext cx="669381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При EC ~3800 ошибка составляет ~2.2%. Допустимо для экологического мониторинга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410" y="2665928"/>
            <a:ext cx="13027581" cy="686514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15" name="Text 13"/>
          <p:cNvSpPr/>
          <p:nvPr/>
        </p:nvSpPr>
        <p:spPr>
          <a:xfrm>
            <a:off x="970240" y="2759512"/>
            <a:ext cx="200394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RMSE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318986" y="2759512"/>
            <a:ext cx="1478994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√((1/n) Σ (y_true − y_pred)²)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5142786" y="2759512"/>
            <a:ext cx="147899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112 мкСм/см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966585" y="2759512"/>
            <a:ext cx="6693813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Несколько выше MAE из-за отдельных выбросов — резких скачков EC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801410" y="3352443"/>
            <a:ext cx="13027581" cy="6865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0" name="Text 18"/>
          <p:cNvSpPr/>
          <p:nvPr/>
        </p:nvSpPr>
        <p:spPr>
          <a:xfrm>
            <a:off x="970240" y="3446026"/>
            <a:ext cx="200394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18986" y="3446026"/>
            <a:ext cx="1478994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(100/n) Σ |(y_true − y_pred)/y_true|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5142786" y="3446026"/>
            <a:ext cx="147899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2.3%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6966585" y="3446026"/>
            <a:ext cx="669381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Очень низкая относительная ошибка. Прогноз почти идеально повторяет форму временного ряда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801410" y="4038957"/>
            <a:ext cx="13027581" cy="936188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970240" y="4132540"/>
            <a:ext cx="200394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3318986" y="4132540"/>
            <a:ext cx="1478994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1 − Σ(y_true − y_pred)² / Σ(y_true − ȳ)²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5142786" y="4132540"/>
            <a:ext cx="147899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0.86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6966585" y="4132540"/>
            <a:ext cx="669381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Модель объясняет 86% дисперсии. Отличный результат для гидрологической задачи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801410" y="4975146"/>
            <a:ext cx="13027581" cy="686514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0" name="Text 28"/>
          <p:cNvSpPr/>
          <p:nvPr/>
        </p:nvSpPr>
        <p:spPr>
          <a:xfrm>
            <a:off x="970240" y="5068729"/>
            <a:ext cx="2003941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BIAS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318986" y="5068729"/>
            <a:ext cx="1478994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(1/n) Σ (y_pred − y_true)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5142786" y="5068729"/>
            <a:ext cx="1478994" cy="2496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+12 мкСм/см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966585" y="5068729"/>
            <a:ext cx="6693813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Небольшое завышение (0.3%). Консервативная ошибка — лучше перестраховаться</a:t>
            </a:r>
            <a:endParaRPr lang="en-US" sz="1300" dirty="0"/>
          </a:p>
        </p:txBody>
      </p:sp>
      <p:sp>
        <p:nvSpPr>
          <p:cNvPr id="34" name="Shape 32"/>
          <p:cNvSpPr/>
          <p:nvPr/>
        </p:nvSpPr>
        <p:spPr>
          <a:xfrm>
            <a:off x="672346" y="5830491"/>
            <a:ext cx="6558558" cy="1677829"/>
          </a:xfrm>
          <a:prstGeom prst="roundRect">
            <a:avLst>
              <a:gd name="adj" fmla="val 7239"/>
            </a:avLst>
          </a:prstGeom>
          <a:solidFill>
            <a:srgbClr val="4950BC"/>
          </a:solidFill>
          <a:ln/>
        </p:spPr>
      </p:sp>
      <p:sp>
        <p:nvSpPr>
          <p:cNvPr id="35" name="Text 33"/>
          <p:cNvSpPr/>
          <p:nvPr/>
        </p:nvSpPr>
        <p:spPr>
          <a:xfrm>
            <a:off x="840938" y="5973842"/>
            <a:ext cx="2552224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Сравнение с аналогами</a:t>
            </a:r>
            <a:endParaRPr lang="en-US" sz="1650" dirty="0"/>
          </a:p>
        </p:txBody>
      </p:sp>
      <p:sp>
        <p:nvSpPr>
          <p:cNvPr id="36" name="Text 34"/>
          <p:cNvSpPr/>
          <p:nvPr/>
        </p:nvSpPr>
        <p:spPr>
          <a:xfrm>
            <a:off x="840938" y="6380678"/>
            <a:ext cx="6221373" cy="74902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Типовые модели (линейная регрессия, ARIMA) дают R² = 0.6–0.7 и MAPE = 5–10%. Prophet с внешними регрессорами показывает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R²=0.86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и </a:t>
            </a:r>
            <a:r>
              <a:rPr 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MAPE=2.3%</a:t>
            </a:r>
            <a:r>
              <a:rPr lang="en-US" sz="13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значительное улучшение.</a:t>
            </a:r>
            <a:endParaRPr lang="en-US" sz="1300" dirty="0"/>
          </a:p>
        </p:txBody>
      </p:sp>
      <p:sp>
        <p:nvSpPr>
          <p:cNvPr id="37" name="Text 35"/>
          <p:cNvSpPr/>
          <p:nvPr/>
        </p:nvSpPr>
        <p:spPr>
          <a:xfrm>
            <a:off x="7528560" y="5973842"/>
            <a:ext cx="2108716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</a:t>
            </a:r>
            <a:endParaRPr lang="en-US" sz="1650" dirty="0"/>
          </a:p>
        </p:txBody>
      </p:sp>
      <p:sp>
        <p:nvSpPr>
          <p:cNvPr id="38" name="Text 36"/>
          <p:cNvSpPr/>
          <p:nvPr/>
        </p:nvSpPr>
        <p:spPr>
          <a:xfrm>
            <a:off x="7528560" y="6380678"/>
            <a:ext cx="6315670" cy="9986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Разработанная модель пригодна для оперативного прогнозирования EC с целью раннего предупреждения о превышении опасного порога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4000 мкСм/см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Рекомендуемый горизонт прогноза — </a:t>
            </a:r>
            <a:r>
              <a:rPr lang="en-US" sz="13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72 часа</a:t>
            </a: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при котором ошибка остаётся в допустимых пределах.</a:t>
            </a:r>
            <a:endParaRPr lang="en-US" sz="1300" dirty="0"/>
          </a:p>
        </p:txBody>
      </p:sp>
      <p:sp>
        <p:nvSpPr>
          <p:cNvPr id="39" name="Прямоугольник 38">
            <a:extLst>
              <a:ext uri="{FF2B5EF4-FFF2-40B4-BE49-F238E27FC236}">
                <a16:creationId xmlns:a16="http://schemas.microsoft.com/office/drawing/2014/main" id="{9B828E0D-2243-37D4-1119-B3A162BAF955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641985"/>
            <a:ext cx="13042821" cy="12401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4850"/>
              </a:lnSpc>
              <a:buNone/>
            </a:pPr>
            <a:r>
              <a:rPr lang="en-US" sz="3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Пространственно-временная визуализация цифрового двойника</a:t>
            </a:r>
            <a:endParaRPr lang="en-US" sz="3900" dirty="0"/>
          </a:p>
        </p:txBody>
      </p:sp>
      <p:sp>
        <p:nvSpPr>
          <p:cNvPr id="3" name="Text 1"/>
          <p:cNvSpPr/>
          <p:nvPr/>
        </p:nvSpPr>
        <p:spPr>
          <a:xfrm>
            <a:off x="793790" y="2278975"/>
            <a:ext cx="13042821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Серия из </a:t>
            </a:r>
            <a:r>
              <a:rPr lang="en-US" sz="15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18 реперных точек</a:t>
            </a: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вдоль реки Косьва (общая длина 283 км) с координатами и расстоянием от устья. IoT-датчик установлен в Кияево (95 км от устья). EC интерполируется линейно от датчика до устья с учётом разбавления притоками.</a:t>
            </a:r>
            <a:endParaRPr lang="en-US" sz="1550" dirty="0"/>
          </a:p>
        </p:txBody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3790" y="3137297"/>
            <a:ext cx="396835" cy="396835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93790" y="37821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Базовая карта</a:t>
            </a:r>
            <a:endParaRPr lang="en-US" sz="1950" dirty="0"/>
          </a:p>
        </p:txBody>
      </p:sp>
      <p:sp>
        <p:nvSpPr>
          <p:cNvPr id="6" name="Text 3"/>
          <p:cNvSpPr/>
          <p:nvPr/>
        </p:nvSpPr>
        <p:spPr>
          <a:xfrm>
            <a:off x="793790" y="4211360"/>
            <a:ext cx="6397347" cy="6350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CartoDB Positron — светлый слой с высокой читаемостью. Полилиния реки синим цветом, толщина 3 пикселя.</a:t>
            </a:r>
            <a:endParaRPr lang="en-US" sz="15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439144" y="3137297"/>
            <a:ext cx="396835" cy="39683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39144" y="3782139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Маркеры точек</a:t>
            </a:r>
            <a:endParaRPr lang="en-US" sz="1950" dirty="0"/>
          </a:p>
        </p:txBody>
      </p:sp>
      <p:sp>
        <p:nvSpPr>
          <p:cNvPr id="9" name="Text 5"/>
          <p:cNvSpPr/>
          <p:nvPr/>
        </p:nvSpPr>
        <p:spPr>
          <a:xfrm>
            <a:off x="7439144" y="4211360"/>
            <a:ext cx="639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CircleMarker: радиус = 6 + EC/500. Цветовая шкала от зелёного (норма) до тёмно-красного (опасность). Всплывающий popup с названием и статусом.</a:t>
            </a:r>
            <a:endParaRPr lang="en-US" sz="15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793790" y="5560814"/>
            <a:ext cx="396835" cy="39683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793790" y="6205657"/>
            <a:ext cx="2480905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Тепловая карта</a:t>
            </a:r>
            <a:endParaRPr lang="en-US" sz="1950" dirty="0"/>
          </a:p>
        </p:txBody>
      </p:sp>
      <p:sp>
        <p:nvSpPr>
          <p:cNvPr id="12" name="Text 7"/>
          <p:cNvSpPr/>
          <p:nvPr/>
        </p:nvSpPr>
        <p:spPr>
          <a:xfrm>
            <a:off x="793790" y="6634877"/>
            <a:ext cx="6397347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HeatMap с интенсивностью цвета, пропорциональной EC/6000. Быстрая визуальная оценка общей картины загрязнения вдоль реки.</a:t>
            </a:r>
            <a:endParaRPr lang="en-US" sz="1550" dirty="0"/>
          </a:p>
        </p:txBody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439144" y="5560814"/>
            <a:ext cx="396835" cy="396835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439144" y="6205657"/>
            <a:ext cx="3164681" cy="31015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Продольный профиль EC</a:t>
            </a:r>
            <a:endParaRPr lang="en-US" sz="1950" dirty="0"/>
          </a:p>
        </p:txBody>
      </p:sp>
      <p:sp>
        <p:nvSpPr>
          <p:cNvPr id="15" name="Text 9"/>
          <p:cNvSpPr/>
          <p:nvPr/>
        </p:nvSpPr>
        <p:spPr>
          <a:xfrm>
            <a:off x="7439144" y="6634877"/>
            <a:ext cx="6397466" cy="9526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15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График зависимости EC от расстояния от истока. Оранжевая горизонтальная линия — опасный порог 4000 мкСм/см. Подписи населённых пунктов и промзон.</a:t>
            </a:r>
            <a:endParaRPr lang="en-US" sz="1550" dirty="0"/>
          </a:p>
        </p:txBody>
      </p:sp>
      <p:sp>
        <p:nvSpPr>
          <p:cNvPr id="16" name="Прямоугольник 15">
            <a:extLst>
              <a:ext uri="{FF2B5EF4-FFF2-40B4-BE49-F238E27FC236}">
                <a16:creationId xmlns:a16="http://schemas.microsoft.com/office/drawing/2014/main" id="{0506ECD2-80AA-4F2B-52D1-32C7FB8054CF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142167"/>
            <a:ext cx="8677275" cy="4651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650"/>
              </a:lnSpc>
              <a:buNone/>
            </a:pPr>
            <a:r>
              <a:rPr lang="en-US" sz="2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Зоны риска и расчёт экономического ущерба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793790" y="1886307"/>
            <a:ext cx="2341602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Ключевые зоны влияния</a:t>
            </a:r>
            <a:endParaRPr lang="en-US" sz="1450" dirty="0"/>
          </a:p>
        </p:txBody>
      </p:sp>
      <p:sp>
        <p:nvSpPr>
          <p:cNvPr id="4" name="Shape 2"/>
          <p:cNvSpPr/>
          <p:nvPr/>
        </p:nvSpPr>
        <p:spPr>
          <a:xfrm>
            <a:off x="793790" y="2244328"/>
            <a:ext cx="6339840" cy="1498163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09030" y="2259568"/>
            <a:ext cx="6309360" cy="446484"/>
          </a:xfrm>
          <a:prstGeom prst="roundRect">
            <a:avLst>
              <a:gd name="adj" fmla="val 9907"/>
            </a:avLst>
          </a:prstGeom>
          <a:solidFill>
            <a:srgbClr val="DADBF1"/>
          </a:solidFill>
          <a:ln/>
        </p:spPr>
      </p:sp>
      <p:sp>
        <p:nvSpPr>
          <p:cNvPr id="6" name="Text 4"/>
          <p:cNvSpPr/>
          <p:nvPr/>
        </p:nvSpPr>
        <p:spPr>
          <a:xfrm>
            <a:off x="3852029" y="2339459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750" dirty="0"/>
          </a:p>
        </p:txBody>
      </p:sp>
      <p:sp>
        <p:nvSpPr>
          <p:cNvPr id="7" name="Text 5"/>
          <p:cNvSpPr/>
          <p:nvPr/>
        </p:nvSpPr>
        <p:spPr>
          <a:xfrm>
            <a:off x="957858" y="2817614"/>
            <a:ext cx="2235160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Губаха — высокий риск</a:t>
            </a:r>
            <a:endParaRPr lang="en-US" sz="1450" dirty="0"/>
          </a:p>
        </p:txBody>
      </p:sp>
      <p:sp>
        <p:nvSpPr>
          <p:cNvPr id="8" name="Text 6"/>
          <p:cNvSpPr/>
          <p:nvPr/>
        </p:nvSpPr>
        <p:spPr>
          <a:xfrm>
            <a:off x="957858" y="3161705"/>
            <a:ext cx="6011704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Коксохим, металлургия, ТЭЦ. Сбросы с превышением ПДК. Вклад в EC: +300–500 мкСм/см. Население 23 000 чел.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93790" y="3854053"/>
            <a:ext cx="6339840" cy="1498163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09030" y="3869293"/>
            <a:ext cx="6309360" cy="446484"/>
          </a:xfrm>
          <a:prstGeom prst="roundRect">
            <a:avLst>
              <a:gd name="adj" fmla="val 9907"/>
            </a:avLst>
          </a:prstGeom>
          <a:solidFill>
            <a:srgbClr val="DADBF1"/>
          </a:solidFill>
          <a:ln/>
        </p:spPr>
      </p:sp>
      <p:sp>
        <p:nvSpPr>
          <p:cNvPr id="11" name="Text 9"/>
          <p:cNvSpPr/>
          <p:nvPr/>
        </p:nvSpPr>
        <p:spPr>
          <a:xfrm>
            <a:off x="3852029" y="3949184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957858" y="4427339"/>
            <a:ext cx="226552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Кияево — средний риск</a:t>
            </a:r>
            <a:endParaRPr lang="en-US" sz="1450" dirty="0"/>
          </a:p>
        </p:txBody>
      </p:sp>
      <p:sp>
        <p:nvSpPr>
          <p:cNvPr id="13" name="Text 11"/>
          <p:cNvSpPr/>
          <p:nvPr/>
        </p:nvSpPr>
        <p:spPr>
          <a:xfrm>
            <a:off x="957858" y="4771430"/>
            <a:ext cx="6011704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Локальные сточные воды, смыв удобрений. Реперная точка IoT-датчика. Население 800 чел.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793790" y="5463778"/>
            <a:ext cx="6339840" cy="1498163"/>
          </a:xfrm>
          <a:prstGeom prst="roundRect">
            <a:avLst>
              <a:gd name="adj" fmla="val 4173"/>
            </a:avLst>
          </a:prstGeom>
          <a:solidFill>
            <a:srgbClr val="FFFFFF"/>
          </a:solidFill>
          <a:ln w="15240">
            <a:solidFill>
              <a:srgbClr val="C0C1D7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09030" y="5479018"/>
            <a:ext cx="6309360" cy="446484"/>
          </a:xfrm>
          <a:prstGeom prst="roundRect">
            <a:avLst>
              <a:gd name="adj" fmla="val 9907"/>
            </a:avLst>
          </a:prstGeom>
          <a:solidFill>
            <a:srgbClr val="DADBF1"/>
          </a:solidFill>
          <a:ln/>
        </p:spPr>
      </p:sp>
      <p:sp>
        <p:nvSpPr>
          <p:cNvPr id="16" name="Text 14"/>
          <p:cNvSpPr/>
          <p:nvPr/>
        </p:nvSpPr>
        <p:spPr>
          <a:xfrm>
            <a:off x="3852029" y="5558909"/>
            <a:ext cx="223242" cy="2790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750"/>
              </a:lnSpc>
              <a:buNone/>
            </a:pPr>
            <a:r>
              <a:rPr lang="en-US" sz="17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750" dirty="0"/>
          </a:p>
        </p:txBody>
      </p:sp>
      <p:sp>
        <p:nvSpPr>
          <p:cNvPr id="17" name="Text 15"/>
          <p:cNvSpPr/>
          <p:nvPr/>
        </p:nvSpPr>
        <p:spPr>
          <a:xfrm>
            <a:off x="957858" y="6037064"/>
            <a:ext cx="2786301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Заторы льда — высокий риск</a:t>
            </a:r>
            <a:endParaRPr lang="en-US" sz="1450" dirty="0"/>
          </a:p>
        </p:txBody>
      </p:sp>
      <p:sp>
        <p:nvSpPr>
          <p:cNvPr id="18" name="Text 16"/>
          <p:cNvSpPr/>
          <p:nvPr/>
        </p:nvSpPr>
        <p:spPr>
          <a:xfrm>
            <a:off x="957858" y="6381155"/>
            <a:ext cx="6011704" cy="4167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Подъём уровня на 2–3 м, затопление загрязнённых территорий. Усиливает антропогенное влияние.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97234" y="1774746"/>
            <a:ext cx="6554153" cy="5312688"/>
          </a:xfrm>
          <a:prstGeom prst="roundRect">
            <a:avLst>
              <a:gd name="adj" fmla="val 2017"/>
            </a:avLst>
          </a:prstGeom>
          <a:solidFill>
            <a:srgbClr val="4950BC"/>
          </a:solidFill>
          <a:ln/>
        </p:spPr>
      </p:sp>
      <p:sp>
        <p:nvSpPr>
          <p:cNvPr id="20" name="Text 18"/>
          <p:cNvSpPr/>
          <p:nvPr/>
        </p:nvSpPr>
        <p:spPr>
          <a:xfrm>
            <a:off x="7546062" y="1886307"/>
            <a:ext cx="3775829" cy="2325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Экономический ущерб (млн руб., 2026)</a:t>
            </a:r>
            <a:endParaRPr lang="en-US" sz="1450" dirty="0"/>
          </a:p>
        </p:txBody>
      </p:sp>
      <p:sp>
        <p:nvSpPr>
          <p:cNvPr id="21" name="Shape 19"/>
          <p:cNvSpPr/>
          <p:nvPr/>
        </p:nvSpPr>
        <p:spPr>
          <a:xfrm>
            <a:off x="7546062" y="2244328"/>
            <a:ext cx="6256496" cy="1802368"/>
          </a:xfrm>
          <a:prstGeom prst="roundRect">
            <a:avLst>
              <a:gd name="adj" fmla="val 3469"/>
            </a:avLst>
          </a:prstGeom>
          <a:noFill/>
          <a:ln w="7620">
            <a:solidFill>
              <a:srgbClr val="FFFFFF">
                <a:alpha val="24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7553682" y="2251948"/>
            <a:ext cx="6241256" cy="3574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23" name="Text 21"/>
          <p:cNvSpPr/>
          <p:nvPr/>
        </p:nvSpPr>
        <p:spPr>
          <a:xfrm>
            <a:off x="7702510" y="2326481"/>
            <a:ext cx="157091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EC, мкСм/см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9578697" y="2326481"/>
            <a:ext cx="187916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Степень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11763137" y="2326481"/>
            <a:ext cx="188297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Ущерб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7553682" y="2609374"/>
            <a:ext cx="6241256" cy="3574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27" name="Text 25"/>
          <p:cNvSpPr/>
          <p:nvPr/>
        </p:nvSpPr>
        <p:spPr>
          <a:xfrm>
            <a:off x="7702510" y="2683907"/>
            <a:ext cx="157091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2800 (норма)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9578697" y="2683907"/>
            <a:ext cx="187916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Низкая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763137" y="2683907"/>
            <a:ext cx="188297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7553682" y="2966799"/>
            <a:ext cx="6241256" cy="3574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1" name="Text 29"/>
          <p:cNvSpPr/>
          <p:nvPr/>
        </p:nvSpPr>
        <p:spPr>
          <a:xfrm>
            <a:off x="7702510" y="3041333"/>
            <a:ext cx="157091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3800 (повышенная)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9578697" y="3041333"/>
            <a:ext cx="187916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Средняя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11763137" y="3041333"/>
            <a:ext cx="188297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119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7553682" y="3324225"/>
            <a:ext cx="6241256" cy="357426"/>
          </a:xfrm>
          <a:prstGeom prst="rect">
            <a:avLst/>
          </a:prstGeom>
          <a:solidFill>
            <a:srgbClr val="000000">
              <a:alpha val="4000"/>
            </a:srgbClr>
          </a:solidFill>
          <a:ln/>
        </p:spPr>
      </p:sp>
      <p:sp>
        <p:nvSpPr>
          <p:cNvPr id="35" name="Text 33"/>
          <p:cNvSpPr/>
          <p:nvPr/>
        </p:nvSpPr>
        <p:spPr>
          <a:xfrm>
            <a:off x="7702510" y="3398758"/>
            <a:ext cx="157091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4500 (опасная)</a:t>
            </a:r>
            <a:endParaRPr lang="en-US" sz="1150" dirty="0"/>
          </a:p>
        </p:txBody>
      </p:sp>
      <p:sp>
        <p:nvSpPr>
          <p:cNvPr id="36" name="Text 34"/>
          <p:cNvSpPr/>
          <p:nvPr/>
        </p:nvSpPr>
        <p:spPr>
          <a:xfrm>
            <a:off x="9578697" y="3398758"/>
            <a:ext cx="187916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1763137" y="3398758"/>
            <a:ext cx="188297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238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7553682" y="3681651"/>
            <a:ext cx="6241256" cy="357426"/>
          </a:xfrm>
          <a:prstGeom prst="rect">
            <a:avLst/>
          </a:prstGeom>
          <a:solidFill>
            <a:srgbClr val="FFFFFF">
              <a:alpha val="4000"/>
            </a:srgbClr>
          </a:solidFill>
          <a:ln/>
        </p:spPr>
      </p:sp>
      <p:sp>
        <p:nvSpPr>
          <p:cNvPr id="39" name="Text 37"/>
          <p:cNvSpPr/>
          <p:nvPr/>
        </p:nvSpPr>
        <p:spPr>
          <a:xfrm>
            <a:off x="7702510" y="3756184"/>
            <a:ext cx="1570911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5500 (критическая)</a:t>
            </a:r>
            <a:endParaRPr lang="en-US" sz="1150" dirty="0"/>
          </a:p>
        </p:txBody>
      </p:sp>
      <p:sp>
        <p:nvSpPr>
          <p:cNvPr id="40" name="Text 38"/>
          <p:cNvSpPr/>
          <p:nvPr/>
        </p:nvSpPr>
        <p:spPr>
          <a:xfrm>
            <a:off x="9578697" y="3756184"/>
            <a:ext cx="187916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Высокая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763137" y="3756184"/>
            <a:ext cx="1882973" cy="2083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238</a:t>
            </a:r>
            <a:endParaRPr lang="en-US" sz="1150" dirty="0"/>
          </a:p>
        </p:txBody>
      </p:sp>
      <p:sp>
        <p:nvSpPr>
          <p:cNvPr id="42" name="Text 40"/>
          <p:cNvSpPr/>
          <p:nvPr/>
        </p:nvSpPr>
        <p:spPr>
          <a:xfrm>
            <a:off x="7546062" y="4172188"/>
            <a:ext cx="6256496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Методика: рыбное хозяйство — 50 млн/объект, промышленность — 30 млн/предприятие, социальная сфера — 10 млн/1000 жит. Инфляционный коэффициент 2.8 (пересчёт из цен 2006 г.).</a:t>
            </a:r>
            <a:endParaRPr lang="en-US" sz="1150" dirty="0"/>
          </a:p>
        </p:txBody>
      </p:sp>
      <p:sp>
        <p:nvSpPr>
          <p:cNvPr id="43" name="Shape 41"/>
          <p:cNvSpPr/>
          <p:nvPr/>
        </p:nvSpPr>
        <p:spPr>
          <a:xfrm>
            <a:off x="7546062" y="4922758"/>
            <a:ext cx="6256496" cy="948571"/>
          </a:xfrm>
          <a:prstGeom prst="roundRect">
            <a:avLst>
              <a:gd name="adj" fmla="val 6591"/>
            </a:avLst>
          </a:prstGeom>
          <a:solidFill>
            <a:srgbClr val="C7C9EA"/>
          </a:solidFill>
          <a:ln/>
        </p:spPr>
      </p:sp>
      <p:pic>
        <p:nvPicPr>
          <p:cNvPr id="4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890" y="5130879"/>
            <a:ext cx="185976" cy="148828"/>
          </a:xfrm>
          <a:prstGeom prst="rect">
            <a:avLst/>
          </a:prstGeom>
        </p:spPr>
      </p:pic>
      <p:sp>
        <p:nvSpPr>
          <p:cNvPr id="45" name="Text 42"/>
          <p:cNvSpPr/>
          <p:nvPr/>
        </p:nvSpPr>
        <p:spPr>
          <a:xfrm>
            <a:off x="8029694" y="5071467"/>
            <a:ext cx="5624036" cy="62507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600"/>
              </a:lnSpc>
              <a:buNone/>
            </a:pPr>
            <a:r>
              <a:rPr lang="en-US" sz="11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Прогноз в период половодья: EC снижается до 3500 мкСм/см. Однако после спада воды возможен рост до 4000–4200 → потенциальный ущерб </a:t>
            </a:r>
            <a:r>
              <a:rPr lang="en-US" sz="11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119–238 млн руб.</a:t>
            </a:r>
            <a:endParaRPr lang="en-US" sz="1150" dirty="0"/>
          </a:p>
        </p:txBody>
      </p:sp>
      <p:sp>
        <p:nvSpPr>
          <p:cNvPr id="46" name="Прямоугольник 45">
            <a:extLst>
              <a:ext uri="{FF2B5EF4-FFF2-40B4-BE49-F238E27FC236}">
                <a16:creationId xmlns:a16="http://schemas.microsoft.com/office/drawing/2014/main" id="{16E12774-5810-F007-311F-8C6FA8845613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072515"/>
            <a:ext cx="7107555" cy="5270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Выводы и перспективы развития</a:t>
            </a:r>
            <a:endParaRPr lang="en-US" sz="3300" dirty="0"/>
          </a:p>
        </p:txBody>
      </p:sp>
      <p:sp>
        <p:nvSpPr>
          <p:cNvPr id="3" name="Shape 1"/>
          <p:cNvSpPr/>
          <p:nvPr/>
        </p:nvSpPr>
        <p:spPr>
          <a:xfrm>
            <a:off x="793790" y="1886307"/>
            <a:ext cx="6449735" cy="1208842"/>
          </a:xfrm>
          <a:prstGeom prst="roundRect">
            <a:avLst>
              <a:gd name="adj" fmla="val 58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70002" y="2062520"/>
            <a:ext cx="3673793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Цифровой двойник реализован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970002" y="2419588"/>
            <a:ext cx="609731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Полностью функционирующая система с прогнозом EC на 72 часа и точностью R²=0.86. Все требования задачи выполнены.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7386876" y="1886307"/>
            <a:ext cx="6449735" cy="1208842"/>
          </a:xfrm>
          <a:prstGeom prst="roundRect">
            <a:avLst>
              <a:gd name="adj" fmla="val 58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563088" y="2062520"/>
            <a:ext cx="2108716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IoT-звено готово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563088" y="2419588"/>
            <a:ext cx="609731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MQTT с отказоустойчивым перебором 4 брокеров. Легко адаптируется для реальных датчиков ESP32 + LoRaWAN.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93790" y="3238500"/>
            <a:ext cx="6449735" cy="1208842"/>
          </a:xfrm>
          <a:prstGeom prst="roundRect">
            <a:avLst>
              <a:gd name="adj" fmla="val 58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70002" y="3414713"/>
            <a:ext cx="2287072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Половодье учтено</a:t>
            </a:r>
            <a:endParaRPr lang="en-US" sz="1650" dirty="0"/>
          </a:p>
        </p:txBody>
      </p:sp>
      <p:sp>
        <p:nvSpPr>
          <p:cNvPr id="11" name="Text 9"/>
          <p:cNvSpPr/>
          <p:nvPr/>
        </p:nvSpPr>
        <p:spPr>
          <a:xfrm>
            <a:off x="970002" y="3771781"/>
            <a:ext cx="609731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Коррекция по данным Росгидромета снижает ошибку на 30% в переходные периоды. Физически адекватный прогноз.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386876" y="3238500"/>
            <a:ext cx="6449735" cy="1208842"/>
          </a:xfrm>
          <a:prstGeom prst="roundRect">
            <a:avLst>
              <a:gd name="adj" fmla="val 5861"/>
            </a:avLst>
          </a:prstGeom>
          <a:solidFill>
            <a:srgbClr val="DADBF1"/>
          </a:solidFill>
          <a:ln w="7620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563088" y="3414713"/>
            <a:ext cx="2836188" cy="27110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✅</a:t>
            </a:r>
            <a:r>
              <a:rPr lang="en-US" sz="16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 Экономическая оценка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63088" y="3771781"/>
            <a:ext cx="6097310" cy="4993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1950"/>
              </a:lnSpc>
              <a:buNone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Методика расчёта ущерба до 238 млн руб. Обоснование для принятия решений об эвакуации и оповещении.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3790" y="4751903"/>
            <a:ext cx="3956923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Научная и практическая значимость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93790" y="5158740"/>
            <a:ext cx="6315670" cy="13486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Подход тиражируется на любые реки с промышленными сбросами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Интеграция в региональную систему мониторинга («Чистая вода» Пермского края)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Комбинация Prophet с гидрологическими прогнозами — новая методика, пригодная для публикации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7528560" y="4751903"/>
            <a:ext cx="2480548" cy="26348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Перспективы развития</a:t>
            </a:r>
            <a:endParaRPr lang="en-US" sz="1650" dirty="0"/>
          </a:p>
        </p:txBody>
      </p:sp>
      <p:sp>
        <p:nvSpPr>
          <p:cNvPr id="18" name="Text 16"/>
          <p:cNvSpPr/>
          <p:nvPr/>
        </p:nvSpPr>
        <p:spPr>
          <a:xfrm>
            <a:off x="7528560" y="5158740"/>
            <a:ext cx="6315670" cy="19482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Реальные датчики ESP32 + EC + DS18B20, передача через LoRaWAN/NB-IoT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Спутниковые данные Sentinel-2, MODIS для оценки мутности и температуры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Веб-панель Dash/Streamlit с автообновлением и SMS-оповещением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Расширение модели: pH, растворённый кислород, БПК</a:t>
            </a:r>
            <a:endParaRPr lang="en-US" sz="1300" dirty="0"/>
          </a:p>
          <a:p>
            <a:pPr marL="342900" indent="-342900" algn="l">
              <a:lnSpc>
                <a:spcPts val="1950"/>
              </a:lnSpc>
              <a:buSzPct val="100000"/>
              <a:buChar char="•"/>
            </a:pPr>
            <a:r>
              <a:rPr lang="en-US" sz="13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ML-прогноз заторов льда на основе исторических данных</a:t>
            </a:r>
            <a:endParaRPr lang="en-US" sz="1300" dirty="0"/>
          </a:p>
        </p:txBody>
      </p:sp>
      <p:sp>
        <p:nvSpPr>
          <p:cNvPr id="19" name="Прямоугольник 18">
            <a:extLst>
              <a:ext uri="{FF2B5EF4-FFF2-40B4-BE49-F238E27FC236}">
                <a16:creationId xmlns:a16="http://schemas.microsoft.com/office/drawing/2014/main" id="{5AC54DDA-4039-72AD-05A4-8AC157665C85}"/>
              </a:ext>
            </a:extLst>
          </p:cNvPr>
          <p:cNvSpPr/>
          <p:nvPr/>
        </p:nvSpPr>
        <p:spPr>
          <a:xfrm>
            <a:off x="12791326" y="7623424"/>
            <a:ext cx="1839073" cy="6061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Стандартная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36</TotalTime>
  <Words>1579</Words>
  <Application>Microsoft Office PowerPoint</Application>
  <PresentationFormat>Произвольный</PresentationFormat>
  <Paragraphs>190</Paragraphs>
  <Slides>11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11</vt:i4>
      </vt:variant>
    </vt:vector>
  </HeadingPairs>
  <TitlesOfParts>
    <vt:vector size="18" baseType="lpstr">
      <vt:lpstr>Calibri</vt:lpstr>
      <vt:lpstr>Inter</vt:lpstr>
      <vt:lpstr>Inter Bold</vt:lpstr>
      <vt:lpstr>quote-cjk-patch</vt:lpstr>
      <vt:lpstr>Consolas</vt:lpstr>
      <vt:lpstr>Arial</vt:lpstr>
      <vt:lpstr>Office Theme</vt:lpstr>
      <vt:lpstr>Геопространственный цифровой двойник мониторинга водного объекта на основе IoT и прогнозирования качества воды 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Нина С. Неликаева</cp:lastModifiedBy>
  <cp:revision>5</cp:revision>
  <dcterms:created xsi:type="dcterms:W3CDTF">2026-04-09T12:11:20Z</dcterms:created>
  <dcterms:modified xsi:type="dcterms:W3CDTF">2026-04-09T12:51:52Z</dcterms:modified>
</cp:coreProperties>
</file>